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Underbanked Opportunity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Alternative Data Reveals About Hidden Good Risks in Credit Scoring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14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Arvind Bajolah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17320" y="29718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29718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77640" y="29718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29718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37960" y="29718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github.com/ArvindB75/home-credit-business-scoring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9423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5A6"/>
                </a:solidFill>
              </a:rPr>
              <a:t>The Underbanked Opportunity — Credit Scoring Dashboard  |  github.com/ArvindB75/home-credit-business-scoring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SLIDE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fintech serving the 1.7 billion unbanked — and the scoring problem that blocks them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228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credit scoring relies on formal banking history. 1.7 billion adults globally have none. Conventional models reject these clients by default — not because they are bad risks, but because they are invisible to the system.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 loan applications from Home Credit, a fintech operating in markets with high unbanked populations. 122 raw variables including alternative behavioral signals. Class imbalance: 8.1% default rate.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120700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160520" cy="3360420"/>
        </p:xfrm>
        <a:graphic>
          <a:graphicData uri="http://schemas.openxmlformats.org/drawingml/2006/table">
            <a:tbl>
              <a:tblPr/>
              <a:tblGrid>
                <a:gridCol w="1554480"/>
                <a:gridCol w="2606040"/>
              </a:tblGrid>
              <a:tr h="840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Objective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840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Director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portfolio default rate while maintaining volume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840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Director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Maximize acceptance rate to grow the loan book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01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 explainability and non-discrimination (GDPR, EU)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9423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5A6"/>
                </a:solidFill>
              </a:rPr>
              <a:t>The Underbanked Opportunity — Credit Scoring Dashboard  |  github.com/ArvindB75/home-credit-business-scoring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SLIDE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cost of rejecting good risks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228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52728"/>
            <a:ext cx="2651760" cy="1234440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1483"/>
            <a:ext cx="2651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931670"/>
            <a:ext cx="2651760" cy="49377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portfolio 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risk / underbanked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52728"/>
            <a:ext cx="2651760" cy="1234440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51483"/>
            <a:ext cx="2651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1931670"/>
            <a:ext cx="2651760" cy="49377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default 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8.1% portfolio average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252728"/>
            <a:ext cx="2651760" cy="1234440"/>
          </a:xfrm>
          <a:prstGeom prst="rect">
            <a:avLst/>
          </a:prstGeom>
          <a:solidFill>
            <a:srgbClr val="EAF4FB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351483"/>
            <a:ext cx="2651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771M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989320" y="1931670"/>
            <a:ext cx="2651760" cy="49377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opportunity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expected losses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65176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 — Good Risk / Underbanked Segment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07792"/>
          <a:ext cx="8503920" cy="1915668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4663440"/>
              </a:tblGrid>
              <a:tr h="383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3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interest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all underbanked good risks are financed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83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losses (3.6%)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 clients defaulting on average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opportunity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771M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absorbing all expected losses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831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refusing this segment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interest income — cost of over-caution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49423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5A6"/>
                </a:solidFill>
              </a:rPr>
              <a:t>The Underbanked Opportunity — Credit Scoring Dashboard  |  github.com/ArvindB75/home-credit-business-scoring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SLIDE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business-first pipeline — every step justified by a decision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228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52728"/>
            <a:ext cx="1664208" cy="1325880"/>
          </a:xfrm>
          <a:prstGeom prst="rect">
            <a:avLst/>
          </a:prstGeom>
          <a:solidFill>
            <a:srgbClr val="FAFAFA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441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984248"/>
            <a:ext cx="1664208" cy="5486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key findings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/ ATLAS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9968" y="1252728"/>
            <a:ext cx="1664208" cy="1325880"/>
          </a:xfrm>
          <a:prstGeom prst="rect">
            <a:avLst/>
          </a:prstGeom>
          <a:solidFill>
            <a:srgbClr val="FAFAFA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13441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29968" y="16916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29968" y="1984248"/>
            <a:ext cx="1664208" cy="5486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features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source tables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+ agg.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39896" y="1252728"/>
            <a:ext cx="1664208" cy="1325880"/>
          </a:xfrm>
          <a:prstGeom prst="rect">
            <a:avLst/>
          </a:prstGeom>
          <a:solidFill>
            <a:srgbClr val="FAFAF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13441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39896" y="16916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39896" y="1984248"/>
            <a:ext cx="1664208" cy="5486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baseline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Hyperopt 30 iter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9824" y="1252728"/>
            <a:ext cx="1664208" cy="1325880"/>
          </a:xfrm>
          <a:prstGeom prst="rect">
            <a:avLst/>
          </a:prstGeom>
          <a:solidFill>
            <a:srgbClr val="FAFAFA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13441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49824" y="16916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49824" y="1984248"/>
            <a:ext cx="1664208" cy="5486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reg.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probabilities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59752" y="1252728"/>
            <a:ext cx="1664208" cy="1325880"/>
          </a:xfrm>
          <a:prstGeom prst="rect">
            <a:avLst/>
          </a:prstGeom>
          <a:solidFill>
            <a:srgbClr val="FAFAFA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9752" y="13441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59752" y="16916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59752" y="1984248"/>
            <a:ext cx="1664208" cy="5486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profiles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27157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71800"/>
          <a:ext cx="8503920" cy="1851660"/>
        </p:xfrm>
        <a:graphic>
          <a:graphicData uri="http://schemas.openxmlformats.org/drawingml/2006/table">
            <a:tbl>
              <a:tblPr/>
              <a:tblGrid>
                <a:gridCol w="1645920"/>
                <a:gridCol w="6858000"/>
              </a:tblGrid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Choice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scale_pos_weight=11.39 in LightGBM — no synthetic oversampling (SMOTE)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cost minimization, not AUC maximization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Isotonic regression — scores become true default probabilities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 — empirically minimizes total portfolio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49423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5A6"/>
                </a:solidFill>
              </a:rPr>
              <a:t>The Underbanked Opportunity — Credit Scoring Dashboard  |  github.com/ArvindB75/home-credit-business-scoring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SLIDE 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calibrated — production-ready by industry standards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228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07008"/>
          <a:ext cx="5120640" cy="3296412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  <a:gridCol w="1188720"/>
              </a:tblGrid>
              <a:tr h="470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Calibrated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Precision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Statistic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Negative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Cost (thr=0.5)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2.55B 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54914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At optimal threshold 0.12, business cost reduces to 1.96B — 11% below logistic regression.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623560" y="1207008"/>
            <a:ext cx="3200400" cy="1005840"/>
          </a:xfrm>
          <a:prstGeom prst="rect">
            <a:avLst/>
          </a:prstGeom>
          <a:solidFill>
            <a:srgbClr val="F0FFF4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2801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= 0.42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623560" y="17556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industry deployment threshold (0.30)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23560" y="2258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Comparison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23560" y="2505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995160" y="2532888"/>
            <a:ext cx="685800" cy="201168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17536" y="25054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623560" y="2889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995160" y="2916936"/>
            <a:ext cx="1043788" cy="20116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75524" y="28895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623560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Calib.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995160" y="3300984"/>
            <a:ext cx="1069848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01584" y="32735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0.780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49423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5A6"/>
                </a:solidFill>
              </a:rPr>
              <a:t>The Underbanked Opportunity — Credit Scoring Dashboard  |  github.com/ArvindB75/home-credit-business-scoring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SLIDE 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tiers — each with a distinct default rate and a distinct credit policy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228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07008"/>
          <a:ext cx="5303520" cy="173736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914400"/>
                <a:gridCol w="914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Proba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Default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Share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— Prime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— rate -2%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— standard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Elevated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— rate +3%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 — High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&gt; 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 or rate +8%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05409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Tier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331012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143000" y="3337560"/>
            <a:ext cx="509138" cy="1920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7858" y="331012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0040" y="363016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143000" y="3657600"/>
            <a:ext cx="1316736" cy="19202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05456" y="363016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0040" y="395020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143000" y="3977640"/>
            <a:ext cx="2335012" cy="19202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23732" y="395020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0040" y="42702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143000" y="4297680"/>
            <a:ext cx="4125773" cy="19202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14493" y="427024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60720" y="120700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Check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760720" y="1463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default at the rate matching their predicted band. Tier 1 (&lt; 5%) defaults at 2.9% in reality. Tier 4 (&gt; 15%) defaults at 23.5%. The model produces true probabilities, not just rankings.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760720" y="20848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 Policy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340864"/>
          <a:ext cx="3291840" cy="2482596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731520"/>
              </a:tblGrid>
              <a:tr h="620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620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downturn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620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(recommended)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6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/ expansion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0040" y="49423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5A6"/>
                </a:solidFill>
              </a:rPr>
              <a:t>The Underbanked Opportunity — Credit Scoring Dashboard  |  github.com/ArvindB75/home-credit-business-scoring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SLIDE 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Insights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data is 3x more informative per variable than traditional signals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228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07008"/>
            <a:ext cx="2651760" cy="960120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3818"/>
            <a:ext cx="26517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735074"/>
            <a:ext cx="265176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power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 alternative score variables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07008"/>
            <a:ext cx="2651760" cy="960120"/>
          </a:xfrm>
          <a:prstGeom prst="rect">
            <a:avLst/>
          </a:prstGeom>
          <a:solidFill>
            <a:srgbClr val="EAF4FB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83818"/>
            <a:ext cx="26517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1735074"/>
            <a:ext cx="265176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power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 traditional variables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207008"/>
            <a:ext cx="2651760" cy="960120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283818"/>
            <a:ext cx="26517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989320" y="1735074"/>
            <a:ext cx="265176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information per variable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alternative data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2585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Features by SHAP Importance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87168"/>
          <a:ext cx="8503920" cy="2308860"/>
        </p:xfrm>
        <a:graphic>
          <a:graphicData uri="http://schemas.openxmlformats.org/drawingml/2006/table">
            <a:tbl>
              <a:tblPr/>
              <a:tblGrid>
                <a:gridCol w="411480"/>
                <a:gridCol w="1554480"/>
                <a:gridCol w="1005840"/>
                <a:gridCol w="594360"/>
                <a:gridCol w="4937760"/>
              </a:tblGrid>
              <a:tr h="209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|SHAP|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09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EXT_SOURCE_2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Alt.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/ digital signal — near-complete coverage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09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EXT_SOURCE_3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Alt.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alternative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EXT_SOURCE_1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Alt.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bureau score — 56% missing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09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loan duration in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CODE_GENDER_M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Being male — regulatory risk flag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09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CREDIT_GOODS_RATIO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Over-borrowing signal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INST_LATE_RATE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late payment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09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PREV_AMT_ANNUITY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loan annuity burden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PREV_AMT_CREDIT_MAX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prior credit 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09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AMT_ANNUITY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loan annuity 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49423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5A6"/>
                </a:solidFill>
              </a:rPr>
              <a:t>The Underbanked Opportunity — Credit Scoring Dashboard  |  github.com/ArvindB75/home-credit-business-scoring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SLIDE 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Limitations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levers for the risk committee — two blockers before EU deployment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228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Actionable Levers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8503920" cy="1460754"/>
        </p:xfrm>
        <a:graphic>
          <a:graphicData uri="http://schemas.openxmlformats.org/drawingml/2006/table">
            <a:tbl>
              <a:tblPr/>
              <a:tblGrid>
                <a:gridCol w="1463040"/>
                <a:gridCol w="3931920"/>
                <a:gridCol w="3108960"/>
              </a:tblGrid>
              <a:tr h="2921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921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Risk-based pricing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 rate by tier: -2% (Tier 1) to +8% (Tier 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revenue to actual risk exposure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921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Underbanked targeting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Proactively finance the 10% good risk / underbanked segment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771M net revenue at 3.6% default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1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warning signals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INST_LATE_RATE &gt; 0.10, PREV_REFUSAL_RATE &gt; 0.30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deterioration before default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921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threshold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threshold between 0.08 and 0.20 based on economic 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risk / growth balance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06095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Limitations — EU Deployment Blockers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16986"/>
          <a:ext cx="8503920" cy="1506474"/>
        </p:xfrm>
        <a:graphic>
          <a:graphicData uri="http://schemas.openxmlformats.org/drawingml/2006/table">
            <a:tbl>
              <a:tblPr/>
              <a:tblGrid>
                <a:gridCol w="3840480"/>
                <a:gridCol w="777240"/>
                <a:gridCol w="3886200"/>
              </a:tblGrid>
              <a:tr h="3012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012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EXT_SOURCE opacity — unknown composition, GDPR Article 22 incompatible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with auditable open banking, telco or utility payment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012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as predictor — 5th strongest SHAP feature, EU Equal Treatment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from feature set. Expected AUC impact: ~0.003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2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stability — fitted on single validation 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recalibration in 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012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validity — no recession cycle in training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full retraining with macro stress 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49423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5A6"/>
                </a:solidFill>
              </a:rPr>
              <a:t>The Underbanked Opportunity — Credit Scoring Dashboard  |  github.com/ArvindB75/home-credit-business-scoring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Underbanked Opportunity — Credit Scoring Dashboard</dc:title>
  <dc:subject>PptxGenJS Presentation</dc:subject>
  <dc:creator>Arvind Bajolah</dc:creator>
  <cp:lastModifiedBy>Arvind Bajolah</cp:lastModifiedBy>
  <cp:revision>1</cp:revision>
  <dcterms:created xsi:type="dcterms:W3CDTF">2026-03-13T02:25:06Z</dcterms:created>
  <dcterms:modified xsi:type="dcterms:W3CDTF">2026-03-13T02:25:06Z</dcterms:modified>
</cp:coreProperties>
</file>